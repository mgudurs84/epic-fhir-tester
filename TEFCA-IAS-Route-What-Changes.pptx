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4630400" cy="8229600"/>
  <p:notesSz cx="8229600" cy="14630400"/>
  <p:embeddedFontLst>
    <p:embeddedFont>
      <p:font typeface="Crimson Pro Semi Bold"/>
      <p:regular r:id="rId9"/>
    </p:embeddedFont>
    <p:embeddedFont>
      <p:font typeface="Crimson Pro Semi Bold"/>
      <p:regular r:id="rId10"/>
    </p:embeddedFont>
    <p:embeddedFont>
      <p:font typeface="Crimson Pro Semi Bold"/>
      <p:regular r:id="rId11"/>
    </p:embeddedFont>
    <p:embeddedFont>
      <p:font typeface="Crimson Pro Semi Bold"/>
      <p:regular r:id="rId12"/>
    </p:embeddedFont>
    <p:embeddedFont>
      <p:font typeface="Heebo"/>
      <p:regular r:id="rId13"/>
    </p:embeddedFont>
    <p:embeddedFont>
      <p:font typeface="Heebo"/>
      <p:regular r:id="rId1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font" Target="fonts/font1.fntdata"/><Relationship Id="rId10" Type="http://schemas.openxmlformats.org/officeDocument/2006/relationships/font" Target="fonts/font2.fntdata"/><Relationship Id="rId11" Type="http://schemas.openxmlformats.org/officeDocument/2006/relationships/font" Target="fonts/font3.fntdata"/><Relationship Id="rId12" Type="http://schemas.openxmlformats.org/officeDocument/2006/relationships/font" Target="fonts/font4.fntdata"/><Relationship Id="rId13" Type="http://schemas.openxmlformats.org/officeDocument/2006/relationships/font" Target="fonts/font5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578048"/>
            <a:ext cx="5511998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TEFCA IAS Route: What Changes?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93790" y="1328142"/>
            <a:ext cx="1304282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Three targeted configuration differences from standard Epic OAuth for the </a:t>
            </a:r>
            <a:pPr algn="l"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TEFCA Facilitated FHIR pathway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 Everything else — SMART discovery, MyChart login flow, token exchange POST, and FHIR resource queries — remains identical.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93790" y="1928217"/>
            <a:ext cx="4262914" cy="4991695"/>
          </a:xfrm>
          <a:prstGeom prst="roundRect">
            <a:avLst>
              <a:gd name="adj" fmla="val 559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6650" y="1951077"/>
            <a:ext cx="4217194" cy="476250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6" name="Text 4"/>
          <p:cNvSpPr/>
          <p:nvPr/>
        </p:nvSpPr>
        <p:spPr>
          <a:xfrm>
            <a:off x="2806184" y="2040374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1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975360" y="2554248"/>
            <a:ext cx="266854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Different Client ID + Signing Key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75360" y="2878455"/>
            <a:ext cx="3899773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TEFCA IAS requires a </a:t>
            </a:r>
            <a:pPr algn="l"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separate app registration with Epic Nexus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(not App Orchard), resulting in a different 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client_id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JWKS endpoint, and key algorithm.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75360" y="3655695"/>
            <a:ext cx="3899773" cy="1019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Before (App Orchard):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client_id: &lt;orchard_id&gt;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| 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alg: ES256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| EC P-256 key</a:t>
            </a:r>
            <a:endParaRPr lang="en-US" sz="1250" dirty="0"/>
          </a:p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After (Epic Nexus / TEFCA):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client_id: 6f7ca437-929b-...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| 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alg: RS256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| RSA 2048-bit key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183624" y="1928217"/>
            <a:ext cx="4263033" cy="4991695"/>
          </a:xfrm>
          <a:prstGeom prst="roundRect">
            <a:avLst>
              <a:gd name="adj" fmla="val 559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06484" y="1951077"/>
            <a:ext cx="4217313" cy="476250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2" name="Text 10"/>
          <p:cNvSpPr/>
          <p:nvPr/>
        </p:nvSpPr>
        <p:spPr>
          <a:xfrm>
            <a:off x="7196018" y="2040374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2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5365194" y="2554248"/>
            <a:ext cx="3899892" cy="496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Authorize URL Gets TEFCA Extension Parameter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5365194" y="3126462"/>
            <a:ext cx="3899892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CLEAR OIDC 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id_token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(IAL2 identity proof) is passed as a new query parameter on 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/authorize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 This is the mechanism by which the patient's verified identity is asserted.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365194" y="4214217"/>
            <a:ext cx="3899892" cy="2524125"/>
          </a:xfrm>
          <a:prstGeom prst="roundRect">
            <a:avLst>
              <a:gd name="adj" fmla="val 944"/>
            </a:avLst>
          </a:prstGeom>
          <a:solidFill>
            <a:srgbClr val="F2F2F2"/>
          </a:solidFill>
          <a:ln/>
        </p:spPr>
      </p:sp>
      <p:sp>
        <p:nvSpPr>
          <p:cNvPr id="16" name="Shape 14"/>
          <p:cNvSpPr/>
          <p:nvPr/>
        </p:nvSpPr>
        <p:spPr>
          <a:xfrm>
            <a:off x="5357336" y="4214217"/>
            <a:ext cx="3915608" cy="2524125"/>
          </a:xfrm>
          <a:prstGeom prst="roundRect">
            <a:avLst>
              <a:gd name="adj" fmla="val 944"/>
            </a:avLst>
          </a:prstGeom>
          <a:solidFill>
            <a:srgbClr val="F2F2F2"/>
          </a:solidFill>
          <a:ln/>
        </p:spPr>
      </p:sp>
      <p:sp>
        <p:nvSpPr>
          <p:cNvPr id="17" name="Text 15"/>
          <p:cNvSpPr/>
          <p:nvPr/>
        </p:nvSpPr>
        <p:spPr>
          <a:xfrm>
            <a:off x="5516047" y="4333280"/>
            <a:ext cx="35981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/authorize?response_type=code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&amp;client_id=6f7ca437-929b-4022-8bf5-c0af3fbe6bef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&amp;redirect_uri=https://ddlqa.cvs.com/ul/extrecords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&amp;scope=patient/*.read launch/patient openid fhirUser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&amp;tefca_ias.id_token=eyJ...CLEAR_TOKEN  ← NEW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573578" y="1928217"/>
            <a:ext cx="4263033" cy="4991695"/>
          </a:xfrm>
          <a:prstGeom prst="roundRect">
            <a:avLst>
              <a:gd name="adj" fmla="val 559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596438" y="1951077"/>
            <a:ext cx="4217313" cy="476250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20" name="Text 18"/>
          <p:cNvSpPr/>
          <p:nvPr/>
        </p:nvSpPr>
        <p:spPr>
          <a:xfrm>
            <a:off x="11585972" y="2040374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3</a:t>
            </a:r>
            <a:endParaRPr lang="en-US" sz="1850" dirty="0"/>
          </a:p>
        </p:txBody>
      </p:sp>
      <p:sp>
        <p:nvSpPr>
          <p:cNvPr id="21" name="Text 19"/>
          <p:cNvSpPr/>
          <p:nvPr/>
        </p:nvSpPr>
        <p:spPr>
          <a:xfrm>
            <a:off x="9755148" y="2554248"/>
            <a:ext cx="340637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JWT Payload Gets CSP Provider Extension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9755148" y="2878455"/>
            <a:ext cx="389989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client_assertion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JWT must include an 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extensions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object that explicitly identifies </a:t>
            </a:r>
            <a:pPr algn="l"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CLEAR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as the Credential Service Provider. This field is absent in standard App Orchard flows.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9755148" y="3950970"/>
            <a:ext cx="3899892" cy="2295525"/>
          </a:xfrm>
          <a:prstGeom prst="roundRect">
            <a:avLst>
              <a:gd name="adj" fmla="val 1038"/>
            </a:avLst>
          </a:prstGeom>
          <a:solidFill>
            <a:srgbClr val="F2F2F2"/>
          </a:solidFill>
          <a:ln/>
        </p:spPr>
      </p:sp>
      <p:sp>
        <p:nvSpPr>
          <p:cNvPr id="24" name="Shape 22"/>
          <p:cNvSpPr/>
          <p:nvPr/>
        </p:nvSpPr>
        <p:spPr>
          <a:xfrm>
            <a:off x="9747290" y="3950970"/>
            <a:ext cx="3915608" cy="2295525"/>
          </a:xfrm>
          <a:prstGeom prst="roundRect">
            <a:avLst>
              <a:gd name="adj" fmla="val 1038"/>
            </a:avLst>
          </a:prstGeom>
          <a:solidFill>
            <a:srgbClr val="F2F2F2"/>
          </a:solidFill>
          <a:ln/>
        </p:spPr>
      </p:sp>
      <p:sp>
        <p:nvSpPr>
          <p:cNvPr id="25" name="Text 23"/>
          <p:cNvSpPr/>
          <p:nvPr/>
        </p:nvSpPr>
        <p:spPr>
          <a:xfrm>
            <a:off x="9906000" y="4070033"/>
            <a:ext cx="359818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"iss": "6f7ca437-...",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"sub": "6f7ca437-...",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"aud": "https://fhir.epic.com/.../oauth2/token",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"jti": "&lt;uuid&gt;",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"extensions": {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"tefca_ias.csp_provider": "CLEAR"  ← NEW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93790" y="7062788"/>
            <a:ext cx="13042821" cy="588764"/>
          </a:xfrm>
          <a:prstGeom prst="roundRect">
            <a:avLst>
              <a:gd name="adj" fmla="val 4045"/>
            </a:avLst>
          </a:prstGeom>
          <a:solidFill>
            <a:srgbClr val="B3C3FF"/>
          </a:solidFill>
          <a:ln/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7282220"/>
            <a:ext cx="198358" cy="15871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309568" y="7229356"/>
            <a:ext cx="1236833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Bottom line: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Only these 3 parameters change. Standard SMART on FHIR discovery, MyChart login, token exchange, and FHIR resource queries are </a:t>
            </a:r>
            <a:pPr algn="l"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completely unchanged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29960"/>
            <a:ext cx="6917055" cy="434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7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Standard OAuth vs. TEFCA IAS: Full Comparison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93790" y="1258491"/>
            <a:ext cx="13042821" cy="40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side-by-side breakdown of every relevant parameter. </a:t>
            </a:r>
            <a:pPr algn="l" indent="0" marL="0">
              <a:lnSpc>
                <a:spcPts val="145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⚠️</a:t>
            </a:r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Changed</a:t>
            </a:r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flags indicate fields that must be reconfigured for the TEFCA IAS pathway. </a:t>
            </a:r>
            <a:pPr algn="l" indent="0" marL="0">
              <a:lnSpc>
                <a:spcPts val="145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✅</a:t>
            </a:r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No change</a:t>
            </a:r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fields can be carried forward from your existing App Orchard integration. Note: the CLEAR </a:t>
            </a:r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id_token</a:t>
            </a:r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is provided by the </a:t>
            </a:r>
            <a:pPr algn="l" indent="0" marL="0">
              <a:lnSpc>
                <a:spcPts val="1450"/>
              </a:lnSpc>
              <a:buNone/>
            </a:pPr>
            <a:r>
              <a:rPr lang="en-US" sz="10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Accounts Team</a:t>
            </a:r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not CDR.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93790" y="1768554"/>
            <a:ext cx="13042821" cy="4388406"/>
          </a:xfrm>
          <a:prstGeom prst="roundRect">
            <a:avLst>
              <a:gd name="adj" fmla="val 475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1410" y="1776174"/>
            <a:ext cx="13027581" cy="32087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40475" y="1842135"/>
            <a:ext cx="3366254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Parameter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92003" y="1842135"/>
            <a:ext cx="4013716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Standard (App Orchard)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890992" y="1842135"/>
            <a:ext cx="4013716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TEFCA IAS (Epic Nexus)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3189982" y="1842135"/>
            <a:ext cx="500182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Status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01410" y="2097048"/>
            <a:ext cx="13027581" cy="33611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940475" y="2163008"/>
            <a:ext cx="3366254" cy="2041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client_id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92003" y="2163008"/>
            <a:ext cx="4013716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App Orchard client ID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890992" y="2163008"/>
            <a:ext cx="4013716" cy="2041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6f7ca437-929b-4022-8bf5-c0af3fbe6bef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3189982" y="2163008"/>
            <a:ext cx="500182" cy="1965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⚠️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1410" y="2433161"/>
            <a:ext cx="13027581" cy="33611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940475" y="2499122"/>
            <a:ext cx="3366254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JWKS URL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92003" y="2499122"/>
            <a:ext cx="4013716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App Orchard JWKS endpoint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890992" y="2499122"/>
            <a:ext cx="4013716" cy="2041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sit2-api.cvshealth.com/public/.well-known/jwks.json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3189982" y="2499122"/>
            <a:ext cx="500182" cy="1965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⚠️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01410" y="2769275"/>
            <a:ext cx="13027581" cy="33611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940475" y="2835235"/>
            <a:ext cx="3366254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Signing Algorithm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92003" y="2835235"/>
            <a:ext cx="4013716" cy="2041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ES256</a:t>
            </a:r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(EC P-256 key)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890992" y="2835235"/>
            <a:ext cx="4013716" cy="2041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RS256</a:t>
            </a:r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(RSA 2048-bit key)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3189982" y="2835235"/>
            <a:ext cx="500182" cy="1965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⚠️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01410" y="3105388"/>
            <a:ext cx="13027581" cy="33611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940475" y="3171349"/>
            <a:ext cx="3366254" cy="2041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JWT </a:t>
            </a:r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iss</a:t>
            </a:r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/ </a:t>
            </a:r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sub</a:t>
            </a:r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claims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92003" y="3171349"/>
            <a:ext cx="4013716" cy="2041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App Orchard </a:t>
            </a:r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client_id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890992" y="3171349"/>
            <a:ext cx="4013716" cy="2041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TEFCA </a:t>
            </a:r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client_id</a:t>
            </a:r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</a:t>
            </a:r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6f7ca437-...</a:t>
            </a:r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3189982" y="3171349"/>
            <a:ext cx="500182" cy="1965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⚠️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01410" y="3441502"/>
            <a:ext cx="13027581" cy="51744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940475" y="3507462"/>
            <a:ext cx="3366254" cy="2041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JWT </a:t>
            </a:r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extensions.tefca_ias.csp_provider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592003" y="3507462"/>
            <a:ext cx="4013716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Not present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890992" y="3507462"/>
            <a:ext cx="4013716" cy="2041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"CLEAR"</a:t>
            </a:r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(CSP identity assertion)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3189982" y="3507462"/>
            <a:ext cx="500182" cy="385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⚠️</a:t>
            </a:r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NEW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01410" y="3958947"/>
            <a:ext cx="13027581" cy="51744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940475" y="4024908"/>
            <a:ext cx="3366254" cy="2041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Authorize param: </a:t>
            </a:r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tefca_ias.id_token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592003" y="4024908"/>
            <a:ext cx="4013716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Not present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890992" y="4024908"/>
            <a:ext cx="4013716" cy="2041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CLEAR OIDC </a:t>
            </a:r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id_token</a:t>
            </a:r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(IAL2 proof from Accounts)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3189982" y="4024908"/>
            <a:ext cx="500182" cy="385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⚠️</a:t>
            </a:r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NEW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01410" y="4476393"/>
            <a:ext cx="13027581" cy="33611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940475" y="4542353"/>
            <a:ext cx="3366254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Authorize endpoint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592003" y="4542353"/>
            <a:ext cx="4013716" cy="2041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/oauth2/authorize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8890992" y="4542353"/>
            <a:ext cx="4013716" cy="2041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/oauth2/authorize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13189982" y="4542353"/>
            <a:ext cx="500182" cy="1965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✅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801410" y="4812506"/>
            <a:ext cx="13027581" cy="33611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940475" y="4878467"/>
            <a:ext cx="3366254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Token endpoint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4592003" y="4878467"/>
            <a:ext cx="4013716" cy="2041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/oauth2/token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8890992" y="4878467"/>
            <a:ext cx="4013716" cy="2041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/oauth2/token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13189982" y="4878467"/>
            <a:ext cx="500182" cy="1965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✅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801410" y="5148620"/>
            <a:ext cx="13027581" cy="33611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940475" y="5214580"/>
            <a:ext cx="3366254" cy="2041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redirect_uri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4592003" y="5214580"/>
            <a:ext cx="4013716" cy="2041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https://ddlqa.cvs.com/ul/extrecords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8890992" y="5214580"/>
            <a:ext cx="4013716" cy="2041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https://ddlqa.cvs.com/ul/extrecords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13189982" y="5214580"/>
            <a:ext cx="500182" cy="1965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✅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801410" y="5484733"/>
            <a:ext cx="13027581" cy="33611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940475" y="5550694"/>
            <a:ext cx="3366254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Scopes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4592003" y="5550694"/>
            <a:ext cx="4013716" cy="2041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patient/*.read openid launch/patient fhirUser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8890992" y="5550694"/>
            <a:ext cx="4013716" cy="2041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patient/*.read openid launch/patient fhirUser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13189982" y="5550694"/>
            <a:ext cx="500182" cy="1965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✅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801410" y="5820847"/>
            <a:ext cx="13027581" cy="32849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940475" y="5886807"/>
            <a:ext cx="3366254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FHIR queries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4592003" y="5886807"/>
            <a:ext cx="4013716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Bearer token + patient ID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8890992" y="5886807"/>
            <a:ext cx="4013716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Bearer token + patient ID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13189982" y="5886807"/>
            <a:ext cx="500182" cy="1965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✅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693777" y="6266259"/>
            <a:ext cx="6552009" cy="1333381"/>
          </a:xfrm>
          <a:prstGeom prst="roundRect">
            <a:avLst>
              <a:gd name="adj" fmla="val 1563"/>
            </a:avLst>
          </a:prstGeom>
          <a:solidFill>
            <a:srgbClr val="2150FE"/>
          </a:solidFill>
          <a:ln/>
        </p:spPr>
      </p:sp>
      <p:sp>
        <p:nvSpPr>
          <p:cNvPr id="66" name="Text 64"/>
          <p:cNvSpPr/>
          <p:nvPr/>
        </p:nvSpPr>
        <p:spPr>
          <a:xfrm>
            <a:off x="832604" y="6363414"/>
            <a:ext cx="1966317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⚠️</a:t>
            </a:r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 Must Change for TEFCA</a:t>
            </a:r>
            <a:endParaRPr lang="en-US" sz="1350" dirty="0"/>
          </a:p>
        </p:txBody>
      </p:sp>
      <p:sp>
        <p:nvSpPr>
          <p:cNvPr id="67" name="Text 65"/>
          <p:cNvSpPr/>
          <p:nvPr/>
        </p:nvSpPr>
        <p:spPr>
          <a:xfrm>
            <a:off x="832604" y="6677620"/>
            <a:ext cx="6274356" cy="888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45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Re-register app with </a:t>
            </a:r>
            <a:pPr algn="l" indent="0" marL="0">
              <a:lnSpc>
                <a:spcPts val="145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Epic Nexus</a:t>
            </a:r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(not App Orchard)</a:t>
            </a:r>
            <a:endParaRPr lang="en-US" sz="1050" dirty="0"/>
          </a:p>
          <a:p>
            <a:pPr algn="l" marL="342900" indent="-342900">
              <a:lnSpc>
                <a:spcPts val="145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Rotate to </a:t>
            </a:r>
            <a:pPr algn="l" indent="0" marL="0">
              <a:lnSpc>
                <a:spcPts val="145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RSA 2048-bit key</a:t>
            </a:r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and update JWKS URL</a:t>
            </a:r>
            <a:endParaRPr lang="en-US" sz="1050" dirty="0"/>
          </a:p>
          <a:p>
            <a:pPr algn="l" marL="342900" indent="-342900">
              <a:lnSpc>
                <a:spcPts val="145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Add </a:t>
            </a:r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FFFFFF"/>
                </a:solidFill>
                <a:highlight>
                  <a:srgbClr val="2E5DF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tefca_ias.csp_provider: "CLEAR"</a:t>
            </a:r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to JWT </a:t>
            </a:r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FFFFFF"/>
                </a:solidFill>
                <a:highlight>
                  <a:srgbClr val="2E5DF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extensions</a:t>
            </a:r>
            <a:endParaRPr lang="en-US" sz="1050" dirty="0"/>
          </a:p>
          <a:p>
            <a:pPr algn="l" marL="342900" indent="-342900">
              <a:lnSpc>
                <a:spcPts val="145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Append </a:t>
            </a:r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FFFFFF"/>
                </a:solidFill>
                <a:highlight>
                  <a:srgbClr val="2E5DF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tefca_ias.id_token</a:t>
            </a:r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to every </a:t>
            </a:r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FFFFFF"/>
                </a:solidFill>
                <a:highlight>
                  <a:srgbClr val="2E5DF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/authorize</a:t>
            </a:r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request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7492246" y="6363414"/>
            <a:ext cx="1782961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✅</a:t>
            </a:r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 No Changes Required</a:t>
            </a:r>
            <a:endParaRPr lang="en-US" sz="1350" dirty="0"/>
          </a:p>
        </p:txBody>
      </p:sp>
      <p:sp>
        <p:nvSpPr>
          <p:cNvPr id="69" name="Text 67"/>
          <p:cNvSpPr/>
          <p:nvPr/>
        </p:nvSpPr>
        <p:spPr>
          <a:xfrm>
            <a:off x="7492246" y="6677620"/>
            <a:ext cx="6351984" cy="8728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450"/>
              </a:lnSpc>
              <a:buSzPct val="100000"/>
              <a:buChar char="•"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Authorize and token endpoint URLs remain identical</a:t>
            </a:r>
            <a:endParaRPr lang="en-US" sz="1050" dirty="0"/>
          </a:p>
          <a:p>
            <a:pPr algn="l" marL="342900" indent="-342900">
              <a:lnSpc>
                <a:spcPts val="1450"/>
              </a:lnSpc>
              <a:buSzPct val="100000"/>
              <a:buChar char="•"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SMART on FHIR discovery flow is unchanged</a:t>
            </a:r>
            <a:endParaRPr lang="en-US" sz="1050" dirty="0"/>
          </a:p>
          <a:p>
            <a:pPr algn="l" marL="342900" indent="-342900">
              <a:lnSpc>
                <a:spcPts val="1450"/>
              </a:lnSpc>
              <a:buSzPct val="100000"/>
              <a:buChar char="•"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Redirect URI, scopes, and FHIR query patterns carry over</a:t>
            </a:r>
            <a:endParaRPr lang="en-US" sz="1050" dirty="0"/>
          </a:p>
          <a:p>
            <a:pPr algn="l" marL="342900" indent="-342900">
              <a:lnSpc>
                <a:spcPts val="1450"/>
              </a:lnSpc>
              <a:buSzPct val="100000"/>
              <a:buChar char="•"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CLEAR </a:t>
            </a:r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id_token</a:t>
            </a:r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is sourced from the </a:t>
            </a:r>
            <a:pPr algn="l" indent="0" marL="0">
              <a:lnSpc>
                <a:spcPts val="1450"/>
              </a:lnSpc>
              <a:buNone/>
            </a:pPr>
            <a:r>
              <a:rPr lang="en-US" sz="10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Accounts Team</a:t>
            </a:r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CDR has no action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2026-02-19T19:49:03Z</dcterms:created>
  <dcterms:modified xsi:type="dcterms:W3CDTF">2026-02-19T19:49:03Z</dcterms:modified>
</cp:coreProperties>
</file>